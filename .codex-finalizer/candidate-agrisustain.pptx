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b0c1d246542b9" /><Relationship Type="http://schemas.openxmlformats.org/officeDocument/2006/relationships/extended-properties" Target="/docProps/app.xml" Id="R3240cd927a4e4e79" /><Relationship Type="http://schemas.openxmlformats.org/officeDocument/2006/relationships/officeDocument" Target="/ppt/presentation.xml" Id="Rab4f98be4e024a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44321bcccd4e1a"/>
  </p:sldMasterIdLst>
  <p:notesMasterIdLst>
    <p:notesMasterId xmlns:r="http://schemas.openxmlformats.org/officeDocument/2006/relationships" r:id="R73aa9fb81f384e10"/>
  </p:notesMasterIdLst>
  <p:sldIdLst>
    <p:sldId xmlns:r="http://schemas.openxmlformats.org/officeDocument/2006/relationships" id="256" r:id="R624bd1121ffd4063"/>
    <p:sldId xmlns:r="http://schemas.openxmlformats.org/officeDocument/2006/relationships" id="257" r:id="R4b10ff4169474a38"/>
    <p:sldId xmlns:r="http://schemas.openxmlformats.org/officeDocument/2006/relationships" id="258" r:id="Rdf457baff8d249d9"/>
    <p:sldId xmlns:r="http://schemas.openxmlformats.org/officeDocument/2006/relationships" id="259" r:id="R647b57b7a5b44cfa"/>
    <p:sldId xmlns:r="http://schemas.openxmlformats.org/officeDocument/2006/relationships" id="260" r:id="R3b1692ebeb314a8f"/>
    <p:sldId xmlns:r="http://schemas.openxmlformats.org/officeDocument/2006/relationships" id="261" r:id="R1581450656944b34"/>
    <p:sldId xmlns:r="http://schemas.openxmlformats.org/officeDocument/2006/relationships" id="262" r:id="Rdc494561cd2146c7"/>
    <p:sldId xmlns:r="http://schemas.openxmlformats.org/officeDocument/2006/relationships" id="263" r:id="Rcae2d232ccf74095"/>
    <p:sldId xmlns:r="http://schemas.openxmlformats.org/officeDocument/2006/relationships" id="264" r:id="Rcbf17b75b6a44e6b"/>
    <p:sldId xmlns:r="http://schemas.openxmlformats.org/officeDocument/2006/relationships" id="265" r:id="R5dcff87fc454496c"/>
    <p:sldId xmlns:r="http://schemas.openxmlformats.org/officeDocument/2006/relationships" id="266" r:id="Re9cfc97ea3984277"/>
    <p:sldId xmlns:r="http://schemas.openxmlformats.org/officeDocument/2006/relationships" id="267" r:id="R1a4ed652b06e4a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357cc9d9984a7a" /><Relationship Type="http://schemas.openxmlformats.org/officeDocument/2006/relationships/slideMaster" Target="/ppt/slideMasters/slideMaster1.xml" Id="R0244321bcccd4e1a" /><Relationship Type="http://schemas.openxmlformats.org/officeDocument/2006/relationships/notesMaster" Target="/ppt/notesMasters/notesMaster1.xml" Id="R73aa9fb81f384e10" /><Relationship Type="http://schemas.openxmlformats.org/officeDocument/2006/relationships/presProps" Target="/ppt/presProps.xml" Id="R7c07cfa5e8ca4928" /><Relationship Type="http://schemas.openxmlformats.org/officeDocument/2006/relationships/viewProps" Target="/ppt/viewProps.xml" Id="R39d20e907cd7487a" /><Relationship Type="http://schemas.openxmlformats.org/officeDocument/2006/relationships/tableStyles" Target="/ppt/tableStyles.xml" Id="R69ba643a07a6466a" /><Relationship Type="http://schemas.openxmlformats.org/officeDocument/2006/relationships/slide" Target="/ppt/slides/slide1.xml" Id="R624bd1121ffd4063" /><Relationship Type="http://schemas.openxmlformats.org/officeDocument/2006/relationships/slide" Target="/ppt/slides/slide2.xml" Id="R4b10ff4169474a38" /><Relationship Type="http://schemas.openxmlformats.org/officeDocument/2006/relationships/slide" Target="/ppt/slides/slide3.xml" Id="Rdf457baff8d249d9" /><Relationship Type="http://schemas.openxmlformats.org/officeDocument/2006/relationships/slide" Target="/ppt/slides/slide4.xml" Id="R647b57b7a5b44cfa" /><Relationship Type="http://schemas.openxmlformats.org/officeDocument/2006/relationships/slide" Target="/ppt/slides/slide5.xml" Id="R3b1692ebeb314a8f" /><Relationship Type="http://schemas.openxmlformats.org/officeDocument/2006/relationships/slide" Target="/ppt/slides/slide6.xml" Id="R1581450656944b34" /><Relationship Type="http://schemas.openxmlformats.org/officeDocument/2006/relationships/slide" Target="/ppt/slides/slide7.xml" Id="Rdc494561cd2146c7" /><Relationship Type="http://schemas.openxmlformats.org/officeDocument/2006/relationships/slide" Target="/ppt/slides/slide8.xml" Id="Rcae2d232ccf74095" /><Relationship Type="http://schemas.openxmlformats.org/officeDocument/2006/relationships/slide" Target="/ppt/slides/slide9.xml" Id="Rcbf17b75b6a44e6b" /><Relationship Type="http://schemas.openxmlformats.org/officeDocument/2006/relationships/slide" Target="/ppt/slides/slide10.xml" Id="R5dcff87fc454496c" /><Relationship Type="http://schemas.openxmlformats.org/officeDocument/2006/relationships/slide" Target="/ppt/slides/slide11.xml" Id="Re9cfc97ea3984277" /><Relationship Type="http://schemas.openxmlformats.org/officeDocument/2006/relationships/slide" Target="/ppt/slides/slide12.xml" Id="R1a4ed652b06e4a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582fee53ac4c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04fc39c5641dc" /><Relationship Type="http://schemas.openxmlformats.org/officeDocument/2006/relationships/notesMaster" Target="/ppt/notesMasters/notesMaster1.xml" Id="R02339aa9f2bc42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c0267791f4321" /><Relationship Type="http://schemas.openxmlformats.org/officeDocument/2006/relationships/notesMaster" Target="/ppt/notesMasters/notesMaster1.xml" Id="R767af5e925dc46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ea1830f1dd4e0e" /><Relationship Type="http://schemas.openxmlformats.org/officeDocument/2006/relationships/notesMaster" Target="/ppt/notesMasters/notesMaster1.xml" Id="Rd60bd34027c7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39b66d65e3487e" /><Relationship Type="http://schemas.openxmlformats.org/officeDocument/2006/relationships/notesMaster" Target="/ppt/notesMasters/notesMaster1.xml" Id="Rab1e4d7e360a46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86938cd8454b02" /><Relationship Type="http://schemas.openxmlformats.org/officeDocument/2006/relationships/notesMaster" Target="/ppt/notesMasters/notesMaster1.xml" Id="R964e6f96bba74f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cc9af4f44d4981" /><Relationship Type="http://schemas.openxmlformats.org/officeDocument/2006/relationships/notesMaster" Target="/ppt/notesMasters/notesMaster1.xml" Id="R9dec42bb3ebd4a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24b79b6c1c4f6a" /><Relationship Type="http://schemas.openxmlformats.org/officeDocument/2006/relationships/notesMaster" Target="/ppt/notesMasters/notesMaster1.xml" Id="R4fac3bc76aba4b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7482649a9a4ae9" /><Relationship Type="http://schemas.openxmlformats.org/officeDocument/2006/relationships/notesMaster" Target="/ppt/notesMasters/notesMaster1.xml" Id="Ra1bc5029f4294d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cc3a39cb24485d" /><Relationship Type="http://schemas.openxmlformats.org/officeDocument/2006/relationships/notesMaster" Target="/ppt/notesMasters/notesMaster1.xml" Id="Rf2b42e04352148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06a77e89d44f44" /><Relationship Type="http://schemas.openxmlformats.org/officeDocument/2006/relationships/notesMaster" Target="/ppt/notesMasters/notesMaster1.xml" Id="R0852dfadca2541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54d0dd791743de" /><Relationship Type="http://schemas.openxmlformats.org/officeDocument/2006/relationships/notesMaster" Target="/ppt/notesMasters/notesMaster1.xml" Id="R4665c25885bb44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07d77df75744fc" /><Relationship Type="http://schemas.openxmlformats.org/officeDocument/2006/relationships/notesMaster" Target="/ppt/notesMasters/notesMaster1.xml" Id="Rcde49e944d5744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 1: Project Information and Project Purpose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Speaker notes: Open with the project purpose and the three audiences served.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 1–3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Set expectations: the presentation explains both the product idea and the plan to deliver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Report 1: Product Background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Speaker notes: Explain that the platform addresses a connected market problem, not only an online storefront.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Report 1: Proposed Solution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Speaker notes: Frame AgriSustain as an integrated value-chain platform, with B2C and B2B in the same ecosystem.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Report 1: Major Features FE-01 to FE-06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Speaker notes: Use this slide as the functional summary before showing requirements detail.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 3: Use Cases, External API Inventory, Functional Requirements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Make clear that Report 3 turns the business idea into testable system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Report 2: Tools &amp; Infrastructures; Report 3: External API Inventory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Speaker notes: Describe the technical choices as documented project technologies, not as completed production claims.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Report 2: Cost &amp; Time Estimations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Speaker notes: Point out that the product scope is staged by dependency and business value.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Report 2: Role and Responsibilities; Scrum Roles &amp; Responsibilities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Speaker notes: Explain that every member contributes to delivery while holding a clear primary responsibility.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Report 2: Quality Management, Testing Strategy, Project Objectives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Speaker notes: Discuss quality as a continuous control loop, not a final project phase.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 1: Limitations &amp; Exclusions; Report 2: Risks and Mitigations; Assumptions &amp;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Show that exclusions are delivery decisions, not missing project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 1–3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Close by returning to the purpose: trusted digital trade that serves farmers, households, and business buyers.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1156b2bab49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8d58367c946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f2c8ea63641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9d2f7d1874e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b21527f174b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f0918e3a340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fae033b4e43d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7f957e23249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c4d50544e4cd6" /><Relationship Type="http://schemas.openxmlformats.org/officeDocument/2006/relationships/image" Target="/ppt/media/image.png" Id="R6a17f1477b6c40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4cc9ee1fe405d" /><Relationship Type="http://schemas.openxmlformats.org/officeDocument/2006/relationships/image" Target="/ppt/media/image2.png" Id="R15f1be644635436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6a17f1477b6c40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15f1be644635436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12ae629ba4b6b" /><Relationship Type="http://schemas.openxmlformats.org/officeDocument/2006/relationships/slideLayout" Target="/ppt/slideLayouts/slideLayout1.xml" Id="Rdc55bcf1562649b5" /><Relationship Type="http://schemas.openxmlformats.org/officeDocument/2006/relationships/slideLayout" Target="/ppt/slideLayouts/slideLayout2.xml" Id="R542d79ac715647d9" /><Relationship Type="http://schemas.openxmlformats.org/officeDocument/2006/relationships/slideLayout" Target="/ppt/slideLayouts/slideLayout3.xml" Id="Ree3d794f31d64ca5" /><Relationship Type="http://schemas.openxmlformats.org/officeDocument/2006/relationships/slideLayout" Target="/ppt/slideLayouts/slideLayout4.xml" Id="R8e8c363a9e4c47b0" /><Relationship Type="http://schemas.openxmlformats.org/officeDocument/2006/relationships/slideLayout" Target="/ppt/slideLayouts/slideLayout5.xml" Id="R15f3d50a974a4a4d" /><Relationship Type="http://schemas.openxmlformats.org/officeDocument/2006/relationships/slideLayout" Target="/ppt/slideLayouts/slideLayout6.xml" Id="R1a5fc14cc3ef4c8b" /><Relationship Type="http://schemas.openxmlformats.org/officeDocument/2006/relationships/slideLayout" Target="/ppt/slideLayouts/slideLayout7.xml" Id="R55b03f347c094cb3" /><Relationship Type="http://schemas.openxmlformats.org/officeDocument/2006/relationships/slideLayout" Target="/ppt/slideLayouts/slideLayout8.xml" Id="R74ff5213dc1d4077" /><Relationship Type="http://schemas.openxmlformats.org/officeDocument/2006/relationships/slideLayout" Target="/ppt/slideLayouts/slideLayout9.xml" Id="R0e3e2d7e0cd34b21" /><Relationship Type="http://schemas.openxmlformats.org/officeDocument/2006/relationships/slideLayout" Target="/ppt/slideLayouts/slideLayout10.xml" Id="R167993b85d744f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5bcf1562649b5"/>
    <p:sldLayoutId xmlns:r="http://schemas.openxmlformats.org/officeDocument/2006/relationships" id="2147483650" r:id="R542d79ac715647d9"/>
    <p:sldLayoutId xmlns:r="http://schemas.openxmlformats.org/officeDocument/2006/relationships" id="2147483651" r:id="Ree3d794f31d64ca5"/>
    <p:sldLayoutId xmlns:r="http://schemas.openxmlformats.org/officeDocument/2006/relationships" id="2147483652" r:id="R8e8c363a9e4c47b0"/>
    <p:sldLayoutId xmlns:r="http://schemas.openxmlformats.org/officeDocument/2006/relationships" id="2147483653" r:id="R15f3d50a974a4a4d"/>
    <p:sldLayoutId xmlns:r="http://schemas.openxmlformats.org/officeDocument/2006/relationships" id="2147483654" r:id="R1a5fc14cc3ef4c8b"/>
    <p:sldLayoutId xmlns:r="http://schemas.openxmlformats.org/officeDocument/2006/relationships" id="2147483655" r:id="R55b03f347c094cb3"/>
    <p:sldLayoutId xmlns:r="http://schemas.openxmlformats.org/officeDocument/2006/relationships" id="2147483656" r:id="R74ff5213dc1d4077"/>
    <p:sldLayoutId xmlns:r="http://schemas.openxmlformats.org/officeDocument/2006/relationships" id="2147483657" r:id="R0e3e2d7e0cd34b21"/>
    <p:sldLayoutId xmlns:r="http://schemas.openxmlformats.org/officeDocument/2006/relationships" id="2147483658" r:id="R167993b85d744f8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f9ad408bd411e" /><Relationship Type="http://schemas.openxmlformats.org/officeDocument/2006/relationships/notesSlide" Target="/ppt/notesSlides/notesSlide1.xml" Id="R8b51a66968db40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ff3bd1a1964076" /><Relationship Type="http://schemas.openxmlformats.org/officeDocument/2006/relationships/notesSlide" Target="/ppt/notesSlides/notesSlide2.xml" Id="R2d0bebca505841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fccd1ba08546d1" /><Relationship Type="http://schemas.openxmlformats.org/officeDocument/2006/relationships/notesSlide" Target="/ppt/notesSlides/notesSlide3.xml" Id="R6b08df00427e42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95580a6e948c7" /><Relationship Type="http://schemas.openxmlformats.org/officeDocument/2006/relationships/notesSlide" Target="/ppt/notesSlides/notesSlide4.xml" Id="Rd0ea6d38746a42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6480bce918d4508" /><Relationship Type="http://schemas.openxmlformats.org/officeDocument/2006/relationships/notesSlide" Target="/ppt/notesSlides/notesSlide5.xml" Id="Red8b70144f3e4a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724abfa3d14957" /><Relationship Type="http://schemas.openxmlformats.org/officeDocument/2006/relationships/notesSlide" Target="/ppt/notesSlides/notesSlide6.xml" Id="R9b85a6427d1443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fec2d77e94fbc" /><Relationship Type="http://schemas.openxmlformats.org/officeDocument/2006/relationships/notesSlide" Target="/ppt/notesSlides/notesSlide7.xml" Id="Rcfb347343a0e46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daf7ca45f4da8" /><Relationship Type="http://schemas.openxmlformats.org/officeDocument/2006/relationships/notesSlide" Target="/ppt/notesSlides/notesSlide8.xml" Id="R027187dfbe0b41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998b2fabbb4016" /><Relationship Type="http://schemas.openxmlformats.org/officeDocument/2006/relationships/notesSlide" Target="/ppt/notesSlides/notesSlide9.xml" Id="Reb53a60df5f04c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6dba4e69a4505" /><Relationship Type="http://schemas.openxmlformats.org/officeDocument/2006/relationships/notesSlide" Target="/ppt/notesSlides/notesSlide10.xml" Id="R925dc35b90174a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b4b20eafc543cf" /><Relationship Type="http://schemas.openxmlformats.org/officeDocument/2006/relationships/notesSlide" Target="/ppt/notesSlides/notesSlide11.xml" Id="R646cac3d9d1e4d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a95c3077bbc45f9" /><Relationship Type="http://schemas.openxmlformats.org/officeDocument/2006/relationships/notesSlide" Target="/ppt/notesSlides/notesSlide12.xml" Id="Ra89d422309264c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8DF6F-A45F-4B71-A836-FB08FE17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D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D4FF"/>
                </a:solidFill>
                <a:latin typeface="Aptos"/>
                <a:ea typeface="Aptos"/>
                <a:cs typeface="Aptos"/>
              </a:rPr>
              <a:t>AGRISUSTAIN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2A325-1CDC-4816-A732-84A9319C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723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Digital Platform for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Sustainable Agriculture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44D97-E792-40C8-83C1-D487E9DB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EBFB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9EBFB"/>
                </a:solidFill>
                <a:latin typeface="Aptos"/>
                <a:ea typeface="Aptos"/>
                <a:cs typeface="Aptos"/>
              </a:rPr>
              <a:t>A graduation capstone project that connects farmers, consumers, and B2B buyers through trusted digital trade.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3F9CD-2589-4D63-BCEB-7605D35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FFFFFF"/>
                </a:solidFill>
                <a:latin typeface="Aptos"/>
                <a:ea typeface="Aptos"/>
                <a:cs typeface="Aptos"/>
              </a:rPr>
              <a:t>SEP490_AGRISUSTAIN</a:t>
            </a:r>
          </a:p>
          <a:p xmlns:a="http://schemas.openxmlformats.org/drawingml/2006/main">
            <a:pPr>
              <a:defRPr sz="9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application for B2B and B2C agricultural commerce</a:t>
            </a:r>
          </a:p>
        </p:txBody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4" name="Table 6"/>
          <p:cNvGraphicFramePr/>
          <p:nvPr/>
        </p:nvGraphicFramePr>
        <p:xfrm>
          <a:off xmlns:a="http://schemas.openxmlformats.org/drawingml/2006/main" x="390525" y="2667000"/>
          <a:ext xmlns:a="http://schemas.openxmlformats.org/drawingml/2006/main" cx="7839075" cy="328612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6E940-2C1A-4FFF-9040-6D4D6074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65099-8696-40D2-95BC-DF9E8D0C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73448-C967-4C58-8879-E6285985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47452-270F-4525-B756-57D389E6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Presentation roadmap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F8468-8D4B-4840-99EB-E71B806D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A 15-minute overview of the project idea, delivery plan, and expected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5CC5A-065E-4533-83A0-914E0FC8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C9E67-3155-47B1-9C06-AC5DDA93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63A"/>
                </a:solidFill>
                <a:latin typeface="Aptos"/>
                <a:ea typeface="Aptos"/>
                <a:cs typeface="Aptos"/>
              </a:rPr>
              <a:t>Problem and opportunity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1CD39-FC61-4EA4-B73C-35C8F93B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26B9B-B6AA-4D8C-B5FE-A44A5D0D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63A"/>
                </a:solidFill>
                <a:latin typeface="Aptos"/>
                <a:ea typeface="Aptos"/>
                <a:cs typeface="Aptos"/>
              </a:rPr>
              <a:t>AgriSustain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DC8E5-8A95-4049-B8CA-DAB2419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3D4D8-BD31-4AFA-99D4-AC6F6005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63A"/>
                </a:solidFill>
                <a:latin typeface="Aptos"/>
                <a:ea typeface="Aptos"/>
                <a:cs typeface="Aptos"/>
              </a:rPr>
              <a:t>Scope and system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0A434-DBD5-4CD0-9442-8D25EADF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A2A46-4A7D-4C55-A6A5-1F7008D8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63A"/>
                </a:solidFill>
                <a:latin typeface="Aptos"/>
                <a:ea typeface="Aptos"/>
                <a:cs typeface="Aptos"/>
              </a:rPr>
              <a:t>Delivery, quality, and risk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8BEFF-025B-454F-8753-6F9F6571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062DB-7B74-41B5-801A-B6EE2AD5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2263A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6BA54-CBE7-487E-8722-5102715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The presentation prioritizes Reports 1 and 2. Report 3 provides the functional evidence behind the solution.</a:t>
            </a:r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97F3C-4693-476B-A4DB-89913C64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09082-7AE8-4F12-A0E9-75E1FF08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5917B-7A45-4DA6-8FD1-65862B04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A16E3-A4CB-44B5-8694-A434FC76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Agricultural trade faces three connected gaps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19D91-1370-46DD-A0A6-3091C495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Fragmented market access, weak product evidence, and limited price visibility create risk for every participant.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D51C7-DF6E-4D3F-9141-E7BFFB27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3166C-E355-49BA-B729-40A2ED27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Supply and demand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39CDD-68D5-42F6-A37C-7881E224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0099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Farmers may face harvest-time oversupply while buyers elsewhere cannot identify reliable suppliers with the quantity and schedule they need.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75455-820B-44CF-8BC7-8E3DD76F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92706-6911-4B1A-A8CC-83B04E38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Trust and food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06507-5B33-40B3-A792-D837DF8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30099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Buyers often depend on seller descriptions because cultivation history, harvest dates, and certificates are difficult to verify.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3C7FF-C4AF-456A-A048-09D09E6E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8B79A-0F81-48A8-B5D0-ABEB463E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Price information gaps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6A7A2-5E17-4031-93EA-571591E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30099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Fragmented and outdated regional price information makes it hard to judge whether an offer is fair.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86FD5-87E8-479E-87AA-BF97E365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A926D-B7C0-4EFA-8669-3F714BF7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1FFB3-EA90-49BC-AB78-BCFF138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5682F-1446-4519-8C53-6F188515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AgriSustain connects trade with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73A3E-A91D-4F8F-8F98-A3F6A220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One responsive web platform combines direct commerce, farming data, and transparent product information.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5362F-C2F7-4149-859D-783D90F5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Farmer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5F09C-8B98-4EF7-AB1C-5680AF97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38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Consumer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C0FA0-8DDF-4ED3-ACAA-8E80C540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B2B 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345F8-46E4-48E3-A9D3-EAF2A27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A4486-017A-4F11-B241-2E58C4AA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E7283-6307-47BD-AAD7-BC6BC4C2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D3184-CCA9-493C-A1CE-B61F6DB9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List products</a:t>
            </a:r>
          </a:p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Record farming logs</a:t>
            </a:r>
          </a:p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Manage harvest batches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4FDD-DCC5-4211-B8AB-7A56AF5F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623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Browse verified products</a:t>
            </a:r>
          </a:p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Scan batch QR codes</a:t>
            </a:r>
          </a:p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Order and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F2584-4C12-4D51-A46D-C3A5E84B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3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Discover suppliers</a:t>
            </a:r>
          </a:p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Place bulk orders</a:t>
            </a:r>
          </a:p>
          <a:p xmlns:a="http://schemas.openxmlformats.org/drawingml/2006/main">
            <a:pPr>
              <a:defRPr sz="127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2263A"/>
                </a:solidFill>
                <a:latin typeface="Aptos"/>
                <a:ea typeface="Aptos"/>
                <a:cs typeface="Aptos"/>
              </a:rPr>
              <a:t>Manage offtake contracts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8E879-245E-4E7D-BCFB-675B9F4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38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22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The platform links product listings to batches, cultivation logs, certification evidence, and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EDC0E-273A-4A9F-A1F4-A4506DEA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60239-9AB4-42AD-945F-0B9F5265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5950-552F-4469-A376-0D911A5F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BBD5E-6032-40BF-8808-A44CEDE4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Six capabilities define the first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3505A-A6E4-4664-85DD-27493F6C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scope focuses on functions that make transactions trustworthy and operationally feasible.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0720B-9ECB-4FF6-9729-6966C958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4EDE1-B0D4-4E40-AF96-565A640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Direct trade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D16F3-3003-4B2B-9732-CBD25BEB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B2C marketplace and B2B procurement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2CF47-1DF8-4B6D-83C6-84BADC46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0531B-5BCD-423D-8B41-11938F3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Harvest-linked 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B7C03-273C-439D-A70C-32504726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Order status, pre-orders, and fulfilment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6FD5D-E582-436E-8A4D-184C071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E04A0-B5A4-4239-9FEE-766A75F6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Seller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88A27-D4AB-4577-B886-5A57CF8C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KYC and certificate review before selling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E1404-BDA5-45B6-9AD3-473FC9E3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8B281-EFD8-400D-9832-0BD82E96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QR traceability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74523-6397-4767-92C8-0876353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Batch-level history from field to buyer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4A42C-08FC-4EAA-9E68-E08AAC9B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52875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2F597-4559-4DA1-A804-A9A1E6D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Price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70467-5DAB-4949-AA18-8755A3C7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00575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Regional benchmark information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3C2AC-4816-4588-B685-CC8FFAAF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C5392-8D69-4D3B-B4E5-CBDC9A7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Quality resolution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10B91-1585-45F0-BABD-A67286A6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00575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Reviews, complaints, and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822FA-F19F-459C-AFF5-B4ECE35F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D305F-B97F-402C-AFC7-E788FA4B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EC0C9-7CB5-4BF4-9384-7EDBB17F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977FD-8E6C-4590-A1B5-DD74F182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The requirements cover the full trading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6CF1C-FC9D-452B-B1A5-804DE024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SRS defines 43 use cases across authentication, marketplace, farm management, transactions, B2B contracts, and administration.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9D54C-756F-447F-B87D-F970536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647950" cy="26670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63A02-6803-419B-929A-9C94D67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Onboarding and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E339E-C461-4F60-8364-A396C7DC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228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Role-based accounts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Email OTP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Farmer and buyer KYC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Certificate dossiers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3C0A0-3EF3-46ED-A48F-1ACA810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2647950" cy="26670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44E71-3813-443D-A500-0DF93EBC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2E79A-A82A-4876-AB55-4F11834F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2228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Marketplace browsing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Cart and retail checkout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PayOS/VietQR payment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Order fulfilment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D95BE-5D9A-4E75-9A44-A1CA8BAA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647950" cy="26670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C0A40-D28C-42EE-9256-53682117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Farm 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82C9C-AC87-436D-9F3D-1A51DBCE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2228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Crop seasons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E-farming logs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Product listings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Traceability batches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9C9BA-FB50-404A-855B-5419E37D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2647950" cy="26670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2200D-D007-4C66-B254-CAFF8DCE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Business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E31DD-1159-4BD6-B28C-6016EC2D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47950"/>
            <a:ext cx="2228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Supplier search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Offtake contracts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Revenue dashboard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Moderation and complaints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5A302-363D-486A-824D-FAC2F412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31E91-AF08-4713-8A2C-FFC9A821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F5F41-1BF7-4D9A-900E-F876A170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7D5EC-0E10-4183-A59E-D726C507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Technical foundation for a responsive web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8AFAF-E485-4443-8D7D-5087D56E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delivery stack supports browser-based access and integrates payment and email notification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49C88-5380-4FCB-B356-ECB38CE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User browsers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73655-0743-4100-98E8-A46D71CB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63A"/>
                </a:solidFill>
                <a:latin typeface="Aptos"/>
                <a:ea typeface="Aptos"/>
                <a:cs typeface="Aptos"/>
              </a:rPr>
              <a:t>Responsive web interface</a:t>
            </a:r>
          </a:p>
          <a:p xmlns:a="http://schemas.openxmlformats.org/drawingml/2006/main">
            <a:pPr>
              <a:defRPr sz="13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63A"/>
                </a:solidFill>
                <a:latin typeface="Aptos"/>
                <a:ea typeface="Aptos"/>
                <a:cs typeface="Aptos"/>
              </a:rPr>
              <a:t>React 19.1.0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C0B5A-4460-4915-9D49-4A90D323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Application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27F22-0C60-4D88-8D55-C3419335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63A"/>
                </a:solidFill>
                <a:latin typeface="Aptos"/>
                <a:ea typeface="Aptos"/>
                <a:cs typeface="Aptos"/>
              </a:rPr>
              <a:t>ASP.NET Web API 8.0</a:t>
            </a:r>
          </a:p>
          <a:p xmlns:a="http://schemas.openxmlformats.org/drawingml/2006/main">
            <a:pPr>
              <a:defRPr sz="13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63A"/>
                </a:solidFill>
                <a:latin typeface="Aptos"/>
                <a:ea typeface="Aptos"/>
                <a:cs typeface="Aptos"/>
              </a:rPr>
              <a:t>Business rules and APIs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38388-8B60-4550-84F3-D09E68D5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Data and integrations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4D7D0-3631-4F08-B31B-A86E3922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63A"/>
                </a:solidFill>
                <a:latin typeface="Aptos"/>
                <a:ea typeface="Aptos"/>
                <a:cs typeface="Aptos"/>
              </a:rPr>
              <a:t>MS SQL Server</a:t>
            </a:r>
          </a:p>
          <a:p xmlns:a="http://schemas.openxmlformats.org/drawingml/2006/main">
            <a:pPr>
              <a:defRPr sz="13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63A"/>
                </a:solidFill>
                <a:latin typeface="Aptos"/>
                <a:ea typeface="Aptos"/>
                <a:cs typeface="Aptos"/>
              </a:rPr>
              <a:t>PayOS / VietQR</a:t>
            </a:r>
          </a:p>
          <a:p xmlns:a="http://schemas.openxmlformats.org/drawingml/2006/main">
            <a:pPr>
              <a:defRPr sz="1350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2263A"/>
                </a:solidFill>
                <a:latin typeface="Aptos"/>
                <a:ea typeface="Aptos"/>
                <a:cs typeface="Aptos"/>
              </a:rPr>
              <a:t>Gmail Notification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9756F-1CAC-4915-BBDF-9A4E2002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Azure staging supports integration, system testing, and stakeholder demonstrations.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B5E8D-157F-4EFD-94F1-3949B29D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7D02F-3B6D-4A4C-AEFD-72710E2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3E2F4-65B1-49AF-AA85-2EFD9D77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3F371-C18E-4802-92D5-6FA08A8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A 15-week delivery plan turns the concept into a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9EB94-97FA-4775-AD7C-6837C83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plan sequences discovery, design, three implementation sprints, verification, deployment, and handover.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9DFB8-7FDA-4507-905E-BF5CA554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728FD-E175-41BB-96AE-0398857E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1362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Weeks 1–3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BF348-AB0E-47EB-8B22-0373700E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Initiation and backlog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C9990-3D30-44F6-AD5A-49B3D282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42 pds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9592D-8EDF-4CC6-AE2E-2D507B26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2F5B5-8511-4DF1-A1BF-8E3957D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14625"/>
            <a:ext cx="1362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Weeks 4–5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02EA8-E17D-4AE5-A2C6-D4939FC2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9087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Architecture and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FCF7F-F7AD-4B17-B609-67395F6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43375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43 pds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0A7AA-3A6E-4952-9FC1-58E09FA6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28A47-AB5A-4950-8120-C4A21B6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14625"/>
            <a:ext cx="1362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Weeks 6–11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0F660-20B7-4178-8599-1F46700F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9087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Three delivery sprints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993FF-8ABD-49A5-A722-DCAC479D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43375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124 pds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70AA9-88CA-49B1-8EF6-329D961C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ACDDA-0027-48F9-AF5E-ECDEFA91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14625"/>
            <a:ext cx="1362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Week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C6ADC-5E8D-4618-A50C-29C4618A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9087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Integration and 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7BFCA-CA39-42FB-8CA6-83432D15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43375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38 pds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A10A10-EED1-41ED-8BD2-60B0EDB0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8E4AC-6C7E-455A-A949-C2400CA0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1362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Weeks 13–14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645B8-B129-4321-873C-9599D936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9087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UAT and 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3207B-8EF4-4F5E-A954-C0BA0841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28 pds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212C8-8BA3-45B5-91AE-6565DE5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92A05-A549-4BA7-983E-8F67FE7F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14625"/>
            <a:ext cx="1362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Week 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FAF66-20F0-4BCB-978E-C80FBA0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9087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Handover and defense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E1F01-020C-46E6-8B05-DC1330BF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43375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16 pds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A396E-79F7-40AD-BEBE-AC046B16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29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Total planned effort: 291 person-days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4D80D-764D-4A0B-9FE0-1A59A08F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68CC7-713B-41BC-AA4D-EEDE4750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D33CD-0B98-4B43-A7C2-114EA7C8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0A663-7567-4D5A-9612-E0D46159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A five-member cross-functional team governs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F91A4-4F26-47A8-AEFE-037236D5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Scrum roles and RACI ownership make priorities, quality, and technical responsibilities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2128D-CDB9-4152-B791-D95D385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D3FA1-3D73-44D9-B47F-11CF806D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57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Nguyễn Văn Huy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6AA4A-C43F-4FF3-AFC3-25A065E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57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2657A"/>
                </a:solidFill>
                <a:latin typeface="Aptos"/>
                <a:ea typeface="Aptos"/>
                <a:cs typeface="Aptos"/>
              </a:rPr>
              <a:t>Project Manager, Lead BA, Fullstack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9E23E-2F8F-4D75-8DC6-2131931A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6C863-8FE1-4C35-B1AC-C8AEB8D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Lò Mạnh Xum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5D82F-2A74-48E3-B247-51A154AB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2657A"/>
                </a:solidFill>
                <a:latin typeface="Aptos"/>
                <a:ea typeface="Aptos"/>
                <a:cs typeface="Aptos"/>
              </a:rPr>
              <a:t>Backend Lead, Database Architect, Fullstack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5879E-965E-4268-A833-76B89C40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AE41C-9EC8-4CB3-868F-DEAAC527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Ngô Đức Dự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579D6-C783-4C67-B330-F9470A1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86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2657A"/>
                </a:solidFill>
                <a:latin typeface="Aptos"/>
                <a:ea typeface="Aptos"/>
                <a:cs typeface="Aptos"/>
              </a:rPr>
              <a:t>Frontend Lead, UI/UX, Fullstack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7FA68-9B25-4F2F-AD73-14A146AD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BF4B2-DA69-44D5-AEBF-241F4E07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Trần Bá Tú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66FF9-720E-40B9-B428-78CFDFAF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2657A"/>
                </a:solidFill>
                <a:latin typeface="Aptos"/>
                <a:ea typeface="Aptos"/>
                <a:cs typeface="Aptos"/>
              </a:rPr>
              <a:t>QA/QC Lead, Fullstack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5F106-FD52-45F0-B593-91CD4BF8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3205C-2C72-429A-BB65-1CDF9EEB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14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Nguyễn Quang Thương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9EF18-DE2E-4979-89DE-4FA9609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148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2657A"/>
                </a:solidFill>
                <a:latin typeface="Aptos"/>
                <a:ea typeface="Aptos"/>
                <a:cs typeface="Aptos"/>
              </a:rPr>
              <a:t>DevOps and System Administration, Fullstack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9878B-5BD7-4167-9D51-612D0CC6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3FE4A-218E-47E8-81DD-BB648231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7FF99-E9C5-46F8-A759-5167814B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38581-2CA3-45DD-92AE-6857466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Quality management is integrated into every sprint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4E8CF-FEE4-46C4-933F-D9BB3CA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team uses readiness criteria, code review, incremental testing, and UAT feedback before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299C7-2FAE-4ED8-887C-02457A10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A979C-4C7B-450B-9455-EC84CACE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Definition of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4D750-0810-4851-A5A4-ECCE6F6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2479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Clear business rules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Confirmed data dependencies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Agreed estimate and acceptance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2AADB-668C-43F7-B1DC-4213310E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21438-70C1-40CB-8A95-168DEB94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383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Definition of Done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947B1-A0F6-42A8-9EEE-A83425EA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95575"/>
            <a:ext cx="22479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Implemented API and interface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Peer review and test evidence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Demo-ready sprint increment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60CC3-A151-4B6D-9129-72D52AAE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3E7F4-1519-4E98-89EC-8B8686C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Testing strategy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2B92B-715D-47EF-ACCA-F55F870D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95575"/>
            <a:ext cx="22479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Unit and integration tests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System testing on Azure staging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UAT scenarios for farmer and buyer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1E35F-7F2C-41F7-AE90-B7A7A8E2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47875"/>
            <a:ext cx="2590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4E1BA-A565-4485-980D-26313DD2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38375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Project objectives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B862C-7DF7-48E3-BA26-00E965B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95575"/>
            <a:ext cx="21717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90% timeliness target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90% requirement completeness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Zero acceptance-test defects recorded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A201E-54F4-40AF-9021-05D54E94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B991C-A30B-4E76-98A7-95574C1F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A63CE-EF63-4920-A9C8-BFB0D8B3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E7D3E-064F-4144-9450-6DD3F78A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Risk control preserves feasibility within the capstone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B2565-8B67-48A5-8B48-46C08ACD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plan protects core value while recognizing technology, timing, and business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0809A-C945-4D17-93AB-7DA8AEB5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80BEA-C9FB-48E5-98B1-EEB5B637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Priority project risks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19293-6854-4AB3-A813-EF9AC6B4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0099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Unclear business requirements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Limited team availability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Scope expansion requests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Uneven workload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Compatibility issues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DE957-D942-4819-869B-934CBEBB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93D25-B244-42AF-92F4-7C6F265E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Management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B50D2-E03B-4DA8-95B8-170ACDCD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0099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Early clarification and benchmark research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Daily commitments and weekly reviews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Scope review with supervisors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Explicit task assignment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Early target-environment 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CC5A9-2354-4142-B1C7-3CE2D15A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93610-F01C-45B1-9659-63BECC2F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Deliberate exclusions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B571D-C166-4833-AFA4-6615CBE6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30099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No transport fleet or GPS tracking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No physical IoT sensors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No blockchain deployment</a:t>
            </a:r>
          </a:p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• No native mobile application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4C702-8E3F-4C9F-BF50-29002DD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A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16876-F1F9-4314-95ED-B6B6662C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 |  SEP490 GRADUATION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A15C0-9F0E-4E38-91ED-B0756C7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265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B3600-5DCB-4458-8527-2457E9A6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263A"/>
                </a:solidFill>
                <a:latin typeface="Aptos"/>
                <a:ea typeface="Aptos"/>
                <a:cs typeface="Aptos"/>
              </a:rPr>
              <a:t>Expected graduation project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36808-E833-4E18-9FFF-8A00CA7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57A"/>
                </a:solidFill>
                <a:latin typeface="Aptos"/>
                <a:ea typeface="Aptos"/>
                <a:cs typeface="Aptos"/>
              </a:rPr>
              <a:t>AgriSustain provides a feasible blueprint for transparent agricultural trade across retail and B2B channels.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339B8-F62C-4585-832D-D2D69F86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37065-CAEB-4F90-83DB-5CCF89A1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For farmers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A2ED7-21E8-4537-9BFF-A6A17C54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143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Direct market access, digital farming records, verified profiles, and better visibility for quality products.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654D8-4E38-4DD0-B93E-BDAC8BB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527D9-5D78-4740-828A-314DE78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For buyers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8DED7-8A9E-4FE4-A207-0096C996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3143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A clearer way to evaluate supplier capacity, product origin, certificates, price, and order progress.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05D3A-7533-49FB-8410-3E45F6F3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217EF-B891-45F9-9693-1ADCAFEF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5D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DAA"/>
                </a:solidFill>
                <a:latin typeface="Aptos"/>
                <a:ea typeface="Aptos"/>
                <a:cs typeface="Aptos"/>
              </a:rPr>
              <a:t>For the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1CC87-91A3-43A1-AFAF-4686FC59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38450"/>
            <a:ext cx="3143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2263A"/>
                </a:solidFill>
                <a:latin typeface="Aptos"/>
                <a:ea typeface="Aptos"/>
                <a:cs typeface="Aptos"/>
              </a:rPr>
              <a:t>A complete capstone lifecycle from problem analysis and requirements to Scrum delivery, verification, and handover.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13093-131D-46D8-979E-2FEF01D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2B5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2B57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2026-10-05T12:42:40.2090000Z</dcterms:created>
  <dcterms:modified xsi:type="dcterms:W3CDTF">2026-10-05T12:42:40.2090000Z</dcterms:modified>
</coreProperties>
</file>